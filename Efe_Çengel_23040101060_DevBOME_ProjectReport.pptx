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54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al__ma_Sayfas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tr-TR" dirty="0" smtClean="0"/>
              <a:t>Sınıf Dağılımı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tr-T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Satışlar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014-4B52-ADA7-F3E1E53014D8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014-4B52-ADA7-F3E1E53014D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tr-T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Sayfa1!$A$2:$A$3</c:f>
              <c:strCache>
                <c:ptCount val="2"/>
                <c:pt idx="0">
                  <c:v>Sağlıklı</c:v>
                </c:pt>
                <c:pt idx="1">
                  <c:v>Sağlıksız</c:v>
                </c:pt>
              </c:strCache>
            </c:strRef>
          </c:cat>
          <c:val>
            <c:numRef>
              <c:f>Sayfa1!$B$2:$B$3</c:f>
              <c:numCache>
                <c:formatCode>General</c:formatCode>
                <c:ptCount val="2"/>
                <c:pt idx="0">
                  <c:v>1519</c:v>
                </c:pt>
                <c:pt idx="1">
                  <c:v>401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00-4B84-8D3E-00D83440C2B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070065424"/>
        <c:axId val="978894576"/>
      </c:barChart>
      <c:catAx>
        <c:axId val="10700654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tr-TR"/>
          </a:p>
        </c:txPr>
        <c:crossAx val="978894576"/>
        <c:crosses val="autoZero"/>
        <c:auto val="1"/>
        <c:lblAlgn val="ctr"/>
        <c:lblOffset val="100"/>
        <c:noMultiLvlLbl val="0"/>
      </c:catAx>
      <c:valAx>
        <c:axId val="978894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tr-TR"/>
          </a:p>
        </c:txPr>
        <c:crossAx val="1070065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tr-T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tr-T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DAC7B-FA83-4176-BE76-B831A5376515}" type="datetimeFigureOut">
              <a:rPr lang="tr-TR" smtClean="0"/>
              <a:t>28.12.2025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99E91-53ED-4FE4-94C3-28618D8B94F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01942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DAC7B-FA83-4176-BE76-B831A5376515}" type="datetimeFigureOut">
              <a:rPr lang="tr-TR" smtClean="0"/>
              <a:t>28.12.2025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99E91-53ED-4FE4-94C3-28618D8B94F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03351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DAC7B-FA83-4176-BE76-B831A5376515}" type="datetimeFigureOut">
              <a:rPr lang="tr-TR" smtClean="0"/>
              <a:t>28.12.2025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99E91-53ED-4FE4-94C3-28618D8B94F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77826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DAC7B-FA83-4176-BE76-B831A5376515}" type="datetimeFigureOut">
              <a:rPr lang="tr-TR" smtClean="0"/>
              <a:t>28.12.2025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99E91-53ED-4FE4-94C3-28618D8B94F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74506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DAC7B-FA83-4176-BE76-B831A5376515}" type="datetimeFigureOut">
              <a:rPr lang="tr-TR" smtClean="0"/>
              <a:t>28.12.2025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99E91-53ED-4FE4-94C3-28618D8B94F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55404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DAC7B-FA83-4176-BE76-B831A5376515}" type="datetimeFigureOut">
              <a:rPr lang="tr-TR" smtClean="0"/>
              <a:t>28.12.2025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99E91-53ED-4FE4-94C3-28618D8B94F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31251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DAC7B-FA83-4176-BE76-B831A5376515}" type="datetimeFigureOut">
              <a:rPr lang="tr-TR" smtClean="0"/>
              <a:t>28.12.2025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99E91-53ED-4FE4-94C3-28618D8B94F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44604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DAC7B-FA83-4176-BE76-B831A5376515}" type="datetimeFigureOut">
              <a:rPr lang="tr-TR" smtClean="0"/>
              <a:t>28.12.2025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99E91-53ED-4FE4-94C3-28618D8B94F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89414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DAC7B-FA83-4176-BE76-B831A5376515}" type="datetimeFigureOut">
              <a:rPr lang="tr-TR" smtClean="0"/>
              <a:t>28.12.2025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99E91-53ED-4FE4-94C3-28618D8B94F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5464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DAC7B-FA83-4176-BE76-B831A5376515}" type="datetimeFigureOut">
              <a:rPr lang="tr-TR" smtClean="0"/>
              <a:t>28.12.2025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99E91-53ED-4FE4-94C3-28618D8B94F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07986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DAC7B-FA83-4176-BE76-B831A5376515}" type="datetimeFigureOut">
              <a:rPr lang="tr-TR" smtClean="0"/>
              <a:t>28.12.2025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99E91-53ED-4FE4-94C3-28618D8B94F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7232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DAC7B-FA83-4176-BE76-B831A5376515}" type="datetimeFigureOut">
              <a:rPr lang="tr-TR" smtClean="0"/>
              <a:t>28.12.2025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899E91-53ED-4FE4-94C3-28618D8B94F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57149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hyperlink" Target="https://www.kaggle.com/datasets/andrewmvd/retinal-disease-classificatio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31763"/>
            <a:ext cx="9144000" cy="2387600"/>
          </a:xfrm>
        </p:spPr>
        <p:txBody>
          <a:bodyPr/>
          <a:lstStyle/>
          <a:p>
            <a:r>
              <a:rPr lang="tr-TR" b="1" dirty="0" smtClean="0"/>
              <a:t>FET312 DERİN ÖĞRENME</a:t>
            </a:r>
            <a:endParaRPr lang="tr-TR" b="1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2840038"/>
            <a:ext cx="9144000" cy="1655762"/>
          </a:xfrm>
        </p:spPr>
        <p:txBody>
          <a:bodyPr>
            <a:normAutofit/>
          </a:bodyPr>
          <a:lstStyle/>
          <a:p>
            <a:r>
              <a:rPr lang="tr-TR" dirty="0" smtClean="0"/>
              <a:t>Retina optik diskindeki hastalığı tahmin etme</a:t>
            </a:r>
            <a:br>
              <a:rPr lang="tr-TR" dirty="0" smtClean="0"/>
            </a:br>
            <a:r>
              <a:rPr lang="tr-TR" dirty="0" smtClean="0"/>
              <a:t>GRUP ADI: </a:t>
            </a:r>
            <a:r>
              <a:rPr lang="tr-TR" b="1" dirty="0" smtClean="0"/>
              <a:t>DevBOME</a:t>
            </a:r>
            <a:br>
              <a:rPr lang="tr-TR" b="1" dirty="0" smtClean="0"/>
            </a:br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/>
              <a:t>		</a:t>
            </a:r>
            <a:endParaRPr lang="tr-TR" b="1" dirty="0"/>
          </a:p>
        </p:txBody>
      </p:sp>
      <p:sp>
        <p:nvSpPr>
          <p:cNvPr id="4" name="Metin kutusu 3"/>
          <p:cNvSpPr txBox="1"/>
          <p:nvPr/>
        </p:nvSpPr>
        <p:spPr>
          <a:xfrm>
            <a:off x="1524000" y="3667919"/>
            <a:ext cx="47339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 smtClean="0"/>
              <a:t>Efe Çengel 		 23040101060</a:t>
            </a:r>
          </a:p>
          <a:p>
            <a:r>
              <a:rPr lang="tr-TR" sz="2400" dirty="0" smtClean="0"/>
              <a:t>Miraç Başaran 		 23040101051</a:t>
            </a:r>
          </a:p>
          <a:p>
            <a:r>
              <a:rPr lang="tr-TR" sz="2400" dirty="0" smtClean="0"/>
              <a:t>Berkay İhsan Güleryüz 22040101012</a:t>
            </a:r>
          </a:p>
          <a:p>
            <a:r>
              <a:rPr lang="tr-TR" sz="2400" dirty="0" smtClean="0"/>
              <a:t>Onur Şengün		 23040101044</a:t>
            </a:r>
            <a:endParaRPr lang="tr-TR" sz="2400" dirty="0"/>
          </a:p>
        </p:txBody>
      </p:sp>
      <p:sp>
        <p:nvSpPr>
          <p:cNvPr id="5" name="Metin kutusu 4"/>
          <p:cNvSpPr txBox="1"/>
          <p:nvPr/>
        </p:nvSpPr>
        <p:spPr>
          <a:xfrm>
            <a:off x="6692900" y="3667919"/>
            <a:ext cx="51943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/>
              <a:t>GitHub</a:t>
            </a:r>
            <a:r>
              <a:rPr lang="tr-TR" sz="2400" dirty="0" smtClean="0"/>
              <a:t>: https</a:t>
            </a:r>
            <a:r>
              <a:rPr lang="tr-TR" sz="2400" dirty="0"/>
              <a:t>://github.com/cengelefe/Derin-Ogrenme-ile-Saglikli-ve-Sagliksiz-Retina-Optik-Disk-Goruntulerinin-Taninmasi/upload/main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1934602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/>
              <a:t>PROBLEMİN AÇIKLANMASI</a:t>
            </a:r>
            <a:endParaRPr lang="tr-TR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Problem: Dünya genelinde diyabetik retinopati, glokom ve makula dejenerasyonu gibi retina hastalıkları, önlenebilir körlüğün en büyük nedenleridir. Ancak buradaki temel sorun sadece hastalık değil, teşhis sürecindeki darboğazdır.</a:t>
            </a:r>
          </a:p>
          <a:p>
            <a:r>
              <a:rPr lang="tr-TR" dirty="0" smtClean="0"/>
              <a:t>Temel zorluk: Bu projeyi teknik olarak zorlayan şey, kullandığımız </a:t>
            </a:r>
            <a:r>
              <a:rPr lang="tr-TR" b="1" dirty="0" smtClean="0"/>
              <a:t>RFMiD (Retinal Fundus Multi-disease Image Dataset)</a:t>
            </a:r>
            <a:r>
              <a:rPr lang="tr-TR" dirty="0" smtClean="0"/>
              <a:t> veri setinin doğası ve bilgisayarlı görünün (Computer Vision) sınırlarıdır</a:t>
            </a:r>
          </a:p>
          <a:p>
            <a:r>
              <a:rPr lang="tr-TR" dirty="0" smtClean="0"/>
              <a:t>Bu projenin amacı doktorların yerini almak değil, onlara </a:t>
            </a:r>
            <a:r>
              <a:rPr lang="tr-TR" b="1" dirty="0" smtClean="0"/>
              <a:t>"ikinci bir göz"</a:t>
            </a:r>
            <a:r>
              <a:rPr lang="tr-TR" dirty="0" smtClean="0"/>
              <a:t> olarak destek vermektir.</a:t>
            </a:r>
          </a:p>
        </p:txBody>
      </p:sp>
    </p:spTree>
    <p:extLst>
      <p:ext uri="{BB962C8B-B14F-4D97-AF65-F5344CB8AC3E}">
        <p14:creationId xmlns:p14="http://schemas.microsoft.com/office/powerpoint/2010/main" val="3085170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/>
              <a:t>VERİ SETİ AÇIKLAMASI</a:t>
            </a:r>
            <a:endParaRPr lang="tr-TR" b="1" dirty="0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6680200" cy="4570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 Seti Adı:</a:t>
            </a:r>
            <a:r>
              <a:rPr kumimoji="0" lang="tr-TR" alt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Retinal Disease Classification (Orijinal Adı: RFMiD - Retinal Fundus Multi-disease Image Dataset)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tr-TR" altLang="tr-T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Erişim Linki:</a:t>
            </a:r>
            <a:r>
              <a:rPr kumimoji="0" lang="tr-TR" alt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https://www.kaggle.com/datasets/andrewmvd/retinal-disease-classification</a:t>
            </a:r>
            <a:endParaRPr kumimoji="0" lang="tr-TR" altLang="tr-T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tr-TR" altLang="tr-T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Kaynak Makale:</a:t>
            </a:r>
            <a:r>
              <a:rPr kumimoji="0" lang="tr-TR" alt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Pachade, S. et al. "Retinal Fundus Multi-Disease Image Dataset (RFMiD): A Dataset for Multi-Disease Detection Research." (2021)</a:t>
            </a:r>
            <a:endParaRPr kumimoji="0" lang="tr-TR" altLang="tr-T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Toplam Veri Boyutu:</a:t>
            </a:r>
            <a:r>
              <a:rPr kumimoji="0" lang="tr-TR" alt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3.200 Adet Yüksek Çözünürlüklü Fundus Görüntüsü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 Dağılımı (Split):</a:t>
            </a:r>
            <a:endParaRPr kumimoji="0" lang="tr-TR" altLang="tr-T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tr-TR" altLang="tr-T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Eğitim (Training):</a:t>
            </a:r>
            <a:r>
              <a:rPr kumimoji="0" lang="tr-TR" alt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1.920 Görüntü (%60)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tr-TR" altLang="tr-T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Doğrulama (Validation):</a:t>
            </a:r>
            <a:r>
              <a:rPr kumimoji="0" lang="tr-TR" alt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640 Görüntü (%20)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tr-TR" altLang="tr-T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(Testing):</a:t>
            </a:r>
            <a:r>
              <a:rPr kumimoji="0" lang="tr-TR" alt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640 Görüntü (%20)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Hedef Değişken (Target):</a:t>
            </a:r>
            <a:endParaRPr kumimoji="0" lang="tr-TR" altLang="tr-T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tr-TR" alt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 seti normalde 46 farklı etiket içerir.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tr-TR" alt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projede problem </a:t>
            </a:r>
            <a:r>
              <a:rPr kumimoji="0" lang="tr-TR" altLang="tr-T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 Classification</a:t>
            </a:r>
            <a:r>
              <a:rPr kumimoji="0" lang="tr-TR" alt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(İkili Sınıflandırma) olarak ele alınmıştır: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tr-TR" altLang="tr-T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Sınıf 0:</a:t>
            </a:r>
            <a:r>
              <a:rPr kumimoji="0" lang="tr-TR" alt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Sağlıklı (Disease Risk = 0)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tr-TR" altLang="tr-T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Sınıf 1:</a:t>
            </a:r>
            <a:r>
              <a:rPr kumimoji="0" lang="tr-TR" alt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Hastalık Riski Mevcut (Disease Risk = 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Sınıf Dengesizliği (Imbalance):</a:t>
            </a:r>
            <a:endParaRPr kumimoji="0" lang="tr-TR" altLang="tr-T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tr-TR" alt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Eğitim setinde </a:t>
            </a:r>
            <a:r>
              <a:rPr kumimoji="0" lang="tr-TR" altLang="tr-T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1519 Hasta</a:t>
            </a:r>
            <a:r>
              <a:rPr kumimoji="0" lang="tr-TR" alt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görüntüye karşılık, sadece </a:t>
            </a:r>
            <a:r>
              <a:rPr kumimoji="0" lang="tr-TR" altLang="tr-T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401 Sağlıklı</a:t>
            </a:r>
            <a:r>
              <a:rPr kumimoji="0" lang="tr-TR" alt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görüntü bulunmaktadır. (Dengesizlik Oranı: ~1:4)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Grafik 8"/>
          <p:cNvGraphicFramePr/>
          <p:nvPr>
            <p:extLst>
              <p:ext uri="{D42A27DB-BD31-4B8C-83A1-F6EECF244321}">
                <p14:modId xmlns:p14="http://schemas.microsoft.com/office/powerpoint/2010/main" val="3864292911"/>
              </p:ext>
            </p:extLst>
          </p:nvPr>
        </p:nvGraphicFramePr>
        <p:xfrm>
          <a:off x="7518400" y="1392273"/>
          <a:ext cx="4533900" cy="5167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37065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/>
              <a:t>Metodoloji ve Eğitim Stratejisi</a:t>
            </a:r>
            <a:endParaRPr lang="tr-TR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 smtClean="0"/>
              <a:t>Eğitim Stratejisi (Training Strategy): Aşırı öğrenmeyi (Overfitting) önlemek ve modelin genelleme yeteneğini ölçmek için veri seti üç parçaya ayrılmıştır:</a:t>
            </a:r>
          </a:p>
          <a:p>
            <a:pPr lvl="1"/>
            <a:r>
              <a:rPr lang="tr-TR" b="1" dirty="0" smtClean="0"/>
              <a:t>%60 Eğitim (Train):</a:t>
            </a:r>
            <a:r>
              <a:rPr lang="tr-TR" dirty="0" smtClean="0"/>
              <a:t> Modelin ağırlıklarını güncellediği ana veri.</a:t>
            </a:r>
          </a:p>
          <a:p>
            <a:pPr lvl="1"/>
            <a:r>
              <a:rPr lang="tr-TR" b="1" dirty="0" smtClean="0"/>
              <a:t>%20 Doğrulama (Validation):</a:t>
            </a:r>
            <a:r>
              <a:rPr lang="tr-TR" dirty="0" smtClean="0"/>
              <a:t> Eğitim sırasında performansın anlık izlendiği veri.</a:t>
            </a:r>
          </a:p>
          <a:p>
            <a:pPr lvl="1"/>
            <a:r>
              <a:rPr lang="tr-TR" b="1" dirty="0" smtClean="0"/>
              <a:t>%20 Test:</a:t>
            </a:r>
            <a:r>
              <a:rPr lang="tr-TR" dirty="0" smtClean="0"/>
              <a:t> Modelin hiç görmediği final sınavı verisi.</a:t>
            </a:r>
          </a:p>
          <a:p>
            <a:r>
              <a:rPr lang="tr-TR" dirty="0" smtClean="0"/>
              <a:t>Performans Metrikleri (Evaluation Metrics): </a:t>
            </a:r>
          </a:p>
          <a:p>
            <a:pPr lvl="1"/>
            <a:r>
              <a:rPr lang="tr-TR" dirty="0" smtClean="0"/>
              <a:t>Doğruluk (Accuracy):Genel başarıyı gösterir ancak dengesiz veri setlerinde tek başına yeterli değildir.</a:t>
            </a:r>
          </a:p>
          <a:p>
            <a:pPr lvl="1"/>
            <a:r>
              <a:rPr lang="tr-TR" dirty="0" smtClean="0"/>
              <a:t>F1-Score (Ağırlıklı):Özellikle dengesiz veri setlerinde (Imbalanced Dataset) kritik öneme sahiptir.</a:t>
            </a:r>
          </a:p>
          <a:p>
            <a:pPr lvl="1"/>
            <a:r>
              <a:rPr lang="tr-TR" dirty="0" smtClean="0"/>
              <a:t>ROC AUC Skoru:Modelin hasta ve sağlıklı sınıflarını birbirinden ayırt etme yeteneğini (Separability) ölçer.</a:t>
            </a:r>
          </a:p>
        </p:txBody>
      </p:sp>
    </p:spTree>
    <p:extLst>
      <p:ext uri="{BB962C8B-B14F-4D97-AF65-F5344CB8AC3E}">
        <p14:creationId xmlns:p14="http://schemas.microsoft.com/office/powerpoint/2010/main" val="1747745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/>
              <a:t>MODELLERİN KARŞILAŞTIRMALI ANALİZİ</a:t>
            </a:r>
            <a:endParaRPr lang="tr-TR" b="1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2016137"/>
            <a:ext cx="105156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İYİ MODEL(ConvNeXt Tiny):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Modern mimarisi sayesinde </a:t>
            </a: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0.9938 ROC AUC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 </a:t>
            </a: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0.9763 F1-Score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ile en yüksek ayırt edicilik performansına ulaşmıştır. Özellikle dengesiz veri setinde (imbalanced data) hasta sınıfını yakalamada en başarılı model olmuştur.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Yüksek Doğruluk (DenseNet121):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Katmanlar arası yoğun bağlantı (dense connection) yapısıyla </a:t>
            </a: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%93.31 Accuracy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oranına ulaşarak genel doğrulukta liderliği almıştır.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Standart Başarı (ResNet50):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Derin ağlarda kaybolan gradyan sorununu çözen yapısıyla %89.84 doğruluk alarak güvenilir bir "Baseline" (Taban) model olduğunu kanıtlamıştır.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Mimari Analiz (U-Net):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Aslen segmentasyon (bölütleme) için tasarlanan U-Net, sınıflandırma görevine uyarlandığında </a:t>
            </a: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%82.03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başarı göstermiştir. Bu sonuç, U-Net'in sınıflandırma yapabilse de, </a:t>
            </a:r>
            <a:r>
              <a:rPr kumimoji="0" lang="tr-TR" altLang="tr-TR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ResNet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veya </a:t>
            </a:r>
            <a:r>
              <a:rPr kumimoji="0" lang="tr-TR" altLang="tr-TR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ConvNeXt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gibi özelleşmiş sınıflandırıcıların (Classifiers) gerisinde kaldığını deneysel olarak göstermiştir.</a:t>
            </a:r>
          </a:p>
        </p:txBody>
      </p:sp>
    </p:spTree>
    <p:extLst>
      <p:ext uri="{BB962C8B-B14F-4D97-AF65-F5344CB8AC3E}">
        <p14:creationId xmlns:p14="http://schemas.microsoft.com/office/powerpoint/2010/main" val="4144652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10515600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856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/>
              <a:t>SONUÇ VE DEĞERLENDİRME</a:t>
            </a:r>
            <a:endParaRPr lang="tr-TR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739137"/>
            <a:ext cx="105156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 Mimarilerin Üstünlüğü: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Deneyler sonucunda </a:t>
            </a: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ConvNeXt Tiny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0.9938 ROC AUC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 </a:t>
            </a: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0.9763 F1-Score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ile en</a:t>
            </a:r>
            <a:r>
              <a:rPr kumimoji="0" lang="tr-TR" altLang="tr-TR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iyi model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olmuştur. Bu durum, modern mimarilerin (Transformer benzeri yapılar) retinal hastalıkların karmaşık desenlerini yakalamada daha başarılı olduğunu kanıtlamıştır.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U-Net'in Sınıflandırma Potansiyeli: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Projemizde özgün bir yaklaşım olarak denenen </a:t>
            </a: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U-Net (Encoder-Classifier)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aslen segmentasyon için tasarlanmış olmasına rağmen </a:t>
            </a: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%82.03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gibi kabul edilebilir bir başarı göstermiştir. Bu, U-Net'in güçlü bir "özellik çıkarıcı" (feature extractor) olduğunu doğrulamaktadır.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Klinik Güvenilirlik: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DenseNet121 ve ConvNeXt modellerinin </a:t>
            </a: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0.95 üzerindeki ROC AUC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değerleri, bu sistemlerin klinik ortamda doktorlara "Erken Uyarı Sistemi" olarak destek verebilecek olgunlukta olduğunu göstermektedir.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Dengesiz Veri Yönetimi: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Veri setindeki (1:4) dengesizliğe rağmen elde edilen yüksek </a:t>
            </a: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F1 Skorları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modellerin sadece çoğunluk sınıfını (hasta) değil, azınlık sınıfını da (sağlıklı) başarıyla ayırt ettiğini gösterir</a:t>
            </a:r>
          </a:p>
        </p:txBody>
      </p:sp>
    </p:spTree>
    <p:extLst>
      <p:ext uri="{BB962C8B-B14F-4D97-AF65-F5344CB8AC3E}">
        <p14:creationId xmlns:p14="http://schemas.microsoft.com/office/powerpoint/2010/main" val="3567023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685</Words>
  <Application>Microsoft Office PowerPoint</Application>
  <PresentationFormat>Geniş ekran</PresentationFormat>
  <Paragraphs>53</Paragraphs>
  <Slides>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Teması</vt:lpstr>
      <vt:lpstr>FET312 DERİN ÖĞRENME</vt:lpstr>
      <vt:lpstr>PROBLEMİN AÇIKLANMASI</vt:lpstr>
      <vt:lpstr>VERİ SETİ AÇIKLAMASI</vt:lpstr>
      <vt:lpstr>Metodoloji ve Eğitim Stratejisi</vt:lpstr>
      <vt:lpstr>MODELLERİN KARŞILAŞTIRMALI ANALİZİ</vt:lpstr>
      <vt:lpstr>PowerPoint Sunusu</vt:lpstr>
      <vt:lpstr>SONUÇ VE DEĞERLENDİRME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FET312 DERİN ÖĞRENME</dc:title>
  <dc:creator>Efe</dc:creator>
  <cp:lastModifiedBy>Efe</cp:lastModifiedBy>
  <cp:revision>7</cp:revision>
  <dcterms:created xsi:type="dcterms:W3CDTF">2025-12-28T09:56:44Z</dcterms:created>
  <dcterms:modified xsi:type="dcterms:W3CDTF">2025-12-28T13:35:57Z</dcterms:modified>
</cp:coreProperties>
</file>